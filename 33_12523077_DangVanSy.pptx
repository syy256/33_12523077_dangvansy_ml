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41A44"/>
          </a:solidFill>
          <a:ln/>
        </p:spPr>
      </p:sp>
      <p:sp>
        <p:nvSpPr>
          <p:cNvPr id="4" name="Shape 2"/>
          <p:cNvSpPr/>
          <p:nvPr/>
        </p:nvSpPr>
        <p:spPr>
          <a:xfrm>
            <a:off x="7836408" y="1984248"/>
            <a:ext cx="237744" cy="237744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5" name="Shape 3"/>
          <p:cNvSpPr/>
          <p:nvPr/>
        </p:nvSpPr>
        <p:spPr>
          <a:xfrm>
            <a:off x="8202168" y="2624328"/>
            <a:ext cx="237744" cy="237744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6" name="Shape 4"/>
          <p:cNvSpPr/>
          <p:nvPr/>
        </p:nvSpPr>
        <p:spPr>
          <a:xfrm>
            <a:off x="7653528" y="3355848"/>
            <a:ext cx="237744" cy="237744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7" name="Shape 5"/>
          <p:cNvSpPr/>
          <p:nvPr/>
        </p:nvSpPr>
        <p:spPr>
          <a:xfrm>
            <a:off x="8567928" y="2258568"/>
            <a:ext cx="237744" cy="237744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8" name="Shape 6"/>
          <p:cNvSpPr/>
          <p:nvPr/>
        </p:nvSpPr>
        <p:spPr>
          <a:xfrm>
            <a:off x="8019288" y="3721608"/>
            <a:ext cx="237744" cy="237744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9" name="Shape 7"/>
          <p:cNvSpPr/>
          <p:nvPr/>
        </p:nvSpPr>
        <p:spPr>
          <a:xfrm>
            <a:off x="8842248" y="1709928"/>
            <a:ext cx="237744" cy="237744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036808" y="2075688"/>
            <a:ext cx="237744" cy="23774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Shape 9"/>
          <p:cNvSpPr/>
          <p:nvPr/>
        </p:nvSpPr>
        <p:spPr>
          <a:xfrm>
            <a:off x="11402568" y="2807208"/>
            <a:ext cx="237744" cy="23774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762488" y="3538728"/>
            <a:ext cx="237744" cy="23774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76888" y="3995928"/>
            <a:ext cx="237744" cy="23774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88168" y="2715768"/>
            <a:ext cx="237744" cy="23774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19688" y="4453128"/>
            <a:ext cx="237744" cy="23774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" name="Shape 14"/>
          <p:cNvSpPr/>
          <p:nvPr/>
        </p:nvSpPr>
        <p:spPr>
          <a:xfrm>
            <a:off x="9189720" y="2788920"/>
            <a:ext cx="1005840" cy="1005840"/>
          </a:xfrm>
          <a:prstGeom prst="ellipse">
            <a:avLst/>
          </a:prstGeom>
          <a:ln w="25400">
            <a:solidFill>
              <a:srgbClr val="2ECC71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546336" y="3145536"/>
            <a:ext cx="292608" cy="292608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1417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MÁY CƠ BẢN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18745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777240" y="26974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(KNN)</a:t>
            </a:r>
            <a:endParaRPr lang="en-US" sz="4000" dirty="0"/>
          </a:p>
        </p:txBody>
      </p:sp>
      <p:sp>
        <p:nvSpPr>
          <p:cNvPr id="21" name="Shape 19"/>
          <p:cNvSpPr/>
          <p:nvPr/>
        </p:nvSpPr>
        <p:spPr>
          <a:xfrm>
            <a:off x="822960" y="3611880"/>
            <a:ext cx="502920" cy="4114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79476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6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học máy dựa trên các điểm dữ liệu gần nhất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2960" y="5806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Đặng Văn Sỹ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61081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 học: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máy cơ bản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LÀ GÌ?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một thuật toán Machine Learning dùng để dự đoán dữ liệu mới dựa trên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điểm dữ liệu gần nhất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trong tập dữ liệu đã biết.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có thể được sử dụng cho: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2697480" cy="1005840"/>
          </a:xfrm>
          <a:prstGeom prst="roundRect">
            <a:avLst>
              <a:gd name="adj" fmla="val 9091"/>
            </a:avLst>
          </a:prstGeom>
          <a:solidFill>
            <a:srgbClr val="F5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2735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6393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3154680"/>
            <a:ext cx="2697480" cy="1005840"/>
          </a:xfrm>
          <a:prstGeom prst="roundRect">
            <a:avLst>
              <a:gd name="adj" fmla="val 9091"/>
            </a:avLst>
          </a:prstGeom>
          <a:solidFill>
            <a:srgbClr val="F5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32735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03320" y="36393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Hồi quy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48056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“Dữ liệu mới giống với những dữ liệu nào nhất?”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10144" y="2432304"/>
            <a:ext cx="256032" cy="256032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644384" y="3712464"/>
            <a:ext cx="256032" cy="256032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375904" y="4443984"/>
            <a:ext cx="256032" cy="256032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370064" y="2980944"/>
            <a:ext cx="256032" cy="256032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838944" y="1883664"/>
            <a:ext cx="256032" cy="256032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36224" y="2615184"/>
            <a:ext cx="256032" cy="25603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01984" y="3895344"/>
            <a:ext cx="256032" cy="25603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70464" y="4626864"/>
            <a:ext cx="256032" cy="25603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84864" y="3255264"/>
            <a:ext cx="256032" cy="25603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96144" y="4992624"/>
            <a:ext cx="256032" cy="25603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0" y="2743200"/>
            <a:ext cx="1645920" cy="1645920"/>
          </a:xfrm>
          <a:prstGeom prst="ellipse">
            <a:avLst/>
          </a:prstGeom>
          <a:ln w="25400">
            <a:solidFill>
              <a:srgbClr val="1E2761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9363456" y="3419856"/>
            <a:ext cx="292608" cy="292608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4480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dữ liệu mới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2104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điểm gần nhất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Học máy cơ bản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HOẠT ĐỘNG NHƯ THẾ NÀO?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201168" cy="201168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7101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1325880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0" y="127101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325880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127101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dữ liệu mới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2011680"/>
            <a:ext cx="3840480" cy="3840480"/>
          </a:xfrm>
          <a:prstGeom prst="ellipse">
            <a:avLst/>
          </a:prstGeom>
          <a:ln w="28575">
            <a:solidFill>
              <a:srgbClr val="1E276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600200" y="5166360"/>
            <a:ext cx="274320" cy="2743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Shape 9"/>
          <p:cNvSpPr/>
          <p:nvPr/>
        </p:nvSpPr>
        <p:spPr>
          <a:xfrm>
            <a:off x="4800600" y="2331720"/>
            <a:ext cx="274320" cy="2743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5074920"/>
            <a:ext cx="274320" cy="274320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508760" y="2606040"/>
            <a:ext cx="274320" cy="274320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606040" y="3337560"/>
            <a:ext cx="274320" cy="274320"/>
          </a:xfrm>
          <a:prstGeom prst="ellipse">
            <a:avLst/>
          </a:prstGeom>
          <a:solidFill>
            <a:srgbClr val="2E86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11880" y="3063240"/>
            <a:ext cx="274320" cy="274320"/>
          </a:xfrm>
          <a:prstGeom prst="ellipse">
            <a:avLst/>
          </a:prstGeom>
          <a:solidFill>
            <a:srgbClr val="2E86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4434840"/>
            <a:ext cx="274320" cy="274320"/>
          </a:xfrm>
          <a:prstGeom prst="ellipse">
            <a:avLst/>
          </a:prstGeom>
          <a:solidFill>
            <a:srgbClr val="2E86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86200" y="4069080"/>
            <a:ext cx="274320" cy="274320"/>
          </a:xfrm>
          <a:prstGeom prst="ellipse">
            <a:avLst/>
          </a:prstGeom>
          <a:solidFill>
            <a:srgbClr val="E74C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31720" y="3977640"/>
            <a:ext cx="274320" cy="274320"/>
          </a:xfrm>
          <a:prstGeom prst="ellipse">
            <a:avLst/>
          </a:prstGeom>
          <a:solidFill>
            <a:srgbClr val="E74C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27248" y="3767328"/>
            <a:ext cx="329184" cy="329184"/>
          </a:xfrm>
          <a:prstGeom prst="ellipse">
            <a:avLst/>
          </a:prstGeom>
          <a:solidFill>
            <a:srgbClr val="2ECC7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1554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35040" y="13716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5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508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điểm gần nhất gồm: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19202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3 điểm 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A</a:t>
            </a:r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● 2 điểm 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B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301752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mới được dự đoán thuộc Nhóm A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035040" y="4434840"/>
            <a:ext cx="987552" cy="1417320"/>
          </a:xfrm>
          <a:prstGeom prst="roundRect">
            <a:avLst>
              <a:gd name="adj" fmla="val 7407"/>
            </a:avLst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6062472" y="4434840"/>
            <a:ext cx="93268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mới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22592" y="4434840"/>
            <a:ext cx="1645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68896" y="4434840"/>
            <a:ext cx="987552" cy="1417320"/>
          </a:xfrm>
          <a:prstGeom prst="roundRect">
            <a:avLst>
              <a:gd name="adj" fmla="val 7407"/>
            </a:avLst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7196328" y="4434840"/>
            <a:ext cx="93268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điểm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gần nhất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156448" y="4434840"/>
            <a:ext cx="1645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302752" y="4434840"/>
            <a:ext cx="987552" cy="1417320"/>
          </a:xfrm>
          <a:prstGeom prst="roundRect">
            <a:avLst>
              <a:gd name="adj" fmla="val 7407"/>
            </a:avLst>
          </a:prstGeom>
          <a:solidFill>
            <a:srgbClr val="CADCFC"/>
          </a:solidFill>
          <a:ln/>
        </p:spPr>
      </p:sp>
      <p:sp>
        <p:nvSpPr>
          <p:cNvPr id="33" name="Text 31"/>
          <p:cNvSpPr/>
          <p:nvPr/>
        </p:nvSpPr>
        <p:spPr>
          <a:xfrm>
            <a:off x="8330184" y="4434840"/>
            <a:ext cx="93268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290304" y="4434840"/>
            <a:ext cx="1645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436608" y="4434840"/>
            <a:ext cx="987552" cy="1417320"/>
          </a:xfrm>
          <a:prstGeom prst="roundRect">
            <a:avLst>
              <a:gd name="adj" fmla="val 7407"/>
            </a:avLst>
          </a:prstGeom>
          <a:solidFill>
            <a:srgbClr val="CADCFC"/>
          </a:solidFill>
          <a:ln/>
        </p:spPr>
      </p:sp>
      <p:sp>
        <p:nvSpPr>
          <p:cNvPr id="36" name="Text 34"/>
          <p:cNvSpPr/>
          <p:nvPr/>
        </p:nvSpPr>
        <p:spPr>
          <a:xfrm>
            <a:off x="9464040" y="4434840"/>
            <a:ext cx="93268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phiếu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424160" y="4434840"/>
            <a:ext cx="1645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570464" y="4434840"/>
            <a:ext cx="987552" cy="141732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10597896" y="4434840"/>
            <a:ext cx="93268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Học máy cơ bản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TRÌNH KNN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bước để đưa ra một dự đoán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28821" y="2532888"/>
            <a:ext cx="8934054" cy="0"/>
          </a:xfrm>
          <a:prstGeom prst="line">
            <a:avLst/>
          </a:prstGeom>
          <a:noFill/>
          <a:ln w="25400">
            <a:solidFill>
              <a:srgbClr val="3E4A85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263061" y="1965960"/>
            <a:ext cx="731520" cy="73152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6" name="Image 0" descr="/home/claude/icons/ic_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6797" y="2139696"/>
            <a:ext cx="384048" cy="384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93413" y="187452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93413" y="1874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926080"/>
            <a:ext cx="1977481" cy="3017520"/>
          </a:xfrm>
          <a:prstGeom prst="roundRect">
            <a:avLst>
              <a:gd name="adj" fmla="val 3699"/>
            </a:avLst>
          </a:prstGeom>
          <a:solidFill>
            <a:srgbClr val="141A44"/>
          </a:solidFill>
          <a:ln w="12700">
            <a:solidFill>
              <a:srgbClr val="3240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3063240"/>
            <a:ext cx="175802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K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68096" y="3749040"/>
            <a:ext cx="1721449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6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số lượng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6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xóm cần xem xét.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96574" y="1965960"/>
            <a:ext cx="731520" cy="73152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13" name="Image 1" descr="/home/claude/icons/ic_rul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310" y="2139696"/>
            <a:ext cx="384048" cy="3840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026926" y="187452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026926" y="1874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2873593" y="2926080"/>
            <a:ext cx="1977481" cy="3017520"/>
          </a:xfrm>
          <a:prstGeom prst="roundRect">
            <a:avLst>
              <a:gd name="adj" fmla="val 3699"/>
            </a:avLst>
          </a:prstGeom>
          <a:solidFill>
            <a:srgbClr val="141A44"/>
          </a:solidFill>
          <a:ln w="12700">
            <a:solidFill>
              <a:srgbClr val="32407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983321" y="3063240"/>
            <a:ext cx="175802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khoảng cách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001609" y="3749040"/>
            <a:ext cx="1721449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6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khoảng cách từ dữ liệu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6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 đến từng điểm huấn luyện.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730088" y="1965960"/>
            <a:ext cx="731520" cy="73152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20" name="Image 2" descr="/home/claude/icons/ic_so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824" y="2139696"/>
            <a:ext cx="384048" cy="38404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260440" y="187452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260440" y="1874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107107" y="2926080"/>
            <a:ext cx="1977481" cy="3017520"/>
          </a:xfrm>
          <a:prstGeom prst="roundRect">
            <a:avLst>
              <a:gd name="adj" fmla="val 3699"/>
            </a:avLst>
          </a:prstGeom>
          <a:solidFill>
            <a:srgbClr val="141A44"/>
          </a:solidFill>
          <a:ln w="12700">
            <a:solidFill>
              <a:srgbClr val="32407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216835" y="3063240"/>
            <a:ext cx="175802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5235123" y="3749040"/>
            <a:ext cx="1721449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6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 các điểm theo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6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cách từ gần đến xa.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7963601" y="1965960"/>
            <a:ext cx="731520" cy="73152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27" name="Image 3" descr="/home/claude/icons/ic_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337" y="2139696"/>
            <a:ext cx="384048" cy="38404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493953" y="187452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493953" y="1874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7340620" y="2926080"/>
            <a:ext cx="1977481" cy="3017520"/>
          </a:xfrm>
          <a:prstGeom prst="roundRect">
            <a:avLst>
              <a:gd name="adj" fmla="val 3699"/>
            </a:avLst>
          </a:prstGeom>
          <a:solidFill>
            <a:srgbClr val="141A44"/>
          </a:solidFill>
          <a:ln w="12700">
            <a:solidFill>
              <a:srgbClr val="32407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450348" y="3063240"/>
            <a:ext cx="175802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K điểm gần nhất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7468636" y="3749040"/>
            <a:ext cx="1721449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6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K dữ liệu có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6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cách nhỏ nhất.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10197114" y="1965960"/>
            <a:ext cx="731520" cy="73152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34" name="Image 4" descr="/home/claude/icons/ic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0850" y="2139696"/>
            <a:ext cx="384048" cy="384048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0727466" y="187452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10727466" y="1874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9574134" y="2926080"/>
            <a:ext cx="1977481" cy="3017520"/>
          </a:xfrm>
          <a:prstGeom prst="roundRect">
            <a:avLst>
              <a:gd name="adj" fmla="val 3699"/>
            </a:avLst>
          </a:prstGeom>
          <a:solidFill>
            <a:srgbClr val="141A44"/>
          </a:solidFill>
          <a:ln w="12700">
            <a:solidFill>
              <a:srgbClr val="32407A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9683862" y="3063240"/>
            <a:ext cx="175802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</a:t>
            </a:r>
            <a:endParaRPr lang="en-US" sz="1350" dirty="0"/>
          </a:p>
        </p:txBody>
      </p:sp>
      <p:sp>
        <p:nvSpPr>
          <p:cNvPr id="39" name="Text 32"/>
          <p:cNvSpPr/>
          <p:nvPr/>
        </p:nvSpPr>
        <p:spPr>
          <a:xfrm>
            <a:off x="9702150" y="3749040"/>
            <a:ext cx="1721449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6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bỏ phiếu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6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giá trị trung bình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Học máy cơ bản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XÁC ĐỊNH "GẦN" VÀ "XA" NHƯ THẾ NÀO?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cách Euclidean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5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d(X,Y) = √[(x₁-y₁)² + (x₂-y₂)² + ... + (xₙ-yₙ)²]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đơn giản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E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A = (2, 3)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B = (5, 7)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2519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34340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6E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d(A,B) = √[(5-2)² + (7-3)²]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6E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= √(9 + 16)
</a:t>
            </a:r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= 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5394960"/>
            <a:ext cx="3840480" cy="0"/>
          </a:xfrm>
          <a:prstGeom prst="line">
            <a:avLst/>
          </a:prstGeom>
          <a:noFill/>
          <a:ln w="19050">
            <a:solidFill>
              <a:srgbClr val="C7CF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737360"/>
            <a:ext cx="0" cy="3657600"/>
          </a:xfrm>
          <a:prstGeom prst="line">
            <a:avLst/>
          </a:prstGeom>
          <a:noFill/>
          <a:ln w="19050">
            <a:solidFill>
              <a:srgbClr val="C7CF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8138160" y="2194560"/>
            <a:ext cx="1371600" cy="1828800"/>
          </a:xfrm>
          <a:prstGeom prst="line">
            <a:avLst/>
          </a:prstGeom>
          <a:noFill/>
          <a:ln w="25400">
            <a:solidFill>
              <a:srgbClr val="1E276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028432" y="3913632"/>
            <a:ext cx="219456" cy="219456"/>
          </a:xfrm>
          <a:prstGeom prst="ellipse">
            <a:avLst/>
          </a:prstGeom>
          <a:solidFill>
            <a:srgbClr val="2E8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40965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(2,3)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00032" y="2084832"/>
            <a:ext cx="219456" cy="21945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18105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(5,7)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260604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580644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58064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cách càng nhỏ → hai điểm càng giống nhau.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Học máy cơ bản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DỤ: DỰ ĐOÁN KHÁCH HÀNG CÓ MUA SẢN PHẨM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5394960" cy="288036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28016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Khách hàng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Tuổi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nhập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mua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mua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mua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425196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5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4251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mới X:  </a:t>
            </a:r>
            <a:pPr indent="0" marL="0"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Tuổi 34, Thu nhập 29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22960" y="4663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K = 3</a:t>
            </a:r>
            <a:pPr indent="0" marL="0"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tìm 3 khách hàng gần nhất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539496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3949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KHÁCH HÀNG CÓ KHẢ NĂNG MUA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hàng xóm gần nhất: 2 Mua · 1 Không mua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675120" y="1691640"/>
            <a:ext cx="0" cy="4297680"/>
          </a:xfrm>
          <a:prstGeom prst="line">
            <a:avLst/>
          </a:prstGeom>
          <a:noFill/>
          <a:ln w="19050">
            <a:solidFill>
              <a:srgbClr val="C7CF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0" y="5989320"/>
            <a:ext cx="4846320" cy="0"/>
          </a:xfrm>
          <a:prstGeom prst="line">
            <a:avLst/>
          </a:prstGeom>
          <a:noFill/>
          <a:ln w="19050">
            <a:solidFill>
              <a:srgbClr val="C7CF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1463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nhập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064240" y="6035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Tuổi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036308" y="5390388"/>
            <a:ext cx="237744" cy="237744"/>
          </a:xfrm>
          <a:prstGeom prst="ellipse">
            <a:avLst/>
          </a:prstGeom>
          <a:solidFill>
            <a:srgbClr val="B000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28332" y="5198364"/>
            <a:ext cx="237744" cy="237744"/>
          </a:xfrm>
          <a:prstGeom prst="ellipse">
            <a:avLst/>
          </a:prstGeom>
          <a:solidFill>
            <a:srgbClr val="B000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16368" y="4910328"/>
            <a:ext cx="237744" cy="237744"/>
          </a:xfrm>
          <a:prstGeom prst="ellipse">
            <a:avLst/>
          </a:prstGeom>
          <a:solidFill>
            <a:srgbClr val="B000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76488" y="3470148"/>
            <a:ext cx="237744" cy="237744"/>
          </a:xfrm>
          <a:prstGeom prst="ellipse">
            <a:avLst/>
          </a:prstGeom>
          <a:solidFill>
            <a:srgbClr val="1E8E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764524" y="3278124"/>
            <a:ext cx="237744" cy="237744"/>
          </a:xfrm>
          <a:prstGeom prst="ellipse">
            <a:avLst/>
          </a:prstGeom>
          <a:solidFill>
            <a:srgbClr val="1E8E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956548" y="2990088"/>
            <a:ext cx="237744" cy="237744"/>
          </a:xfrm>
          <a:prstGeom prst="ellipse">
            <a:avLst/>
          </a:prstGeom>
          <a:solidFill>
            <a:srgbClr val="1E8E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04988" y="3090672"/>
            <a:ext cx="1188720" cy="1188720"/>
          </a:xfrm>
          <a:prstGeom prst="ellipse">
            <a:avLst/>
          </a:prstGeom>
          <a:ln w="25400">
            <a:solidFill>
              <a:srgbClr val="1E2761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8353044" y="3538728"/>
            <a:ext cx="292608" cy="292608"/>
          </a:xfrm>
          <a:prstGeom prst="ellipse">
            <a:avLst/>
          </a:prstGeom>
          <a:solidFill>
            <a:srgbClr val="FFB300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13548" y="311810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Học máy cơ bản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CÓ VAI TRÒ GÌ?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120640" cy="2331720"/>
          </a:xfrm>
          <a:prstGeom prst="roundRect">
            <a:avLst>
              <a:gd name="adj" fmla="val 3922"/>
            </a:avLst>
          </a:prstGeom>
          <a:solidFill>
            <a:srgbClr val="FDEDEC"/>
          </a:solidFill>
          <a:ln w="12700">
            <a:solidFill>
              <a:srgbClr val="F5C6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572768"/>
            <a:ext cx="502920" cy="502920"/>
          </a:xfrm>
          <a:prstGeom prst="ellipse">
            <a:avLst/>
          </a:prstGeom>
          <a:solidFill>
            <a:srgbClr val="E74C3C"/>
          </a:solidFill>
          <a:ln/>
        </p:spPr>
      </p:sp>
      <p:pic>
        <p:nvPicPr>
          <p:cNvPr id="5" name="Image 0" descr="/home/claude/icons/ic_minus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673352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00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quá nhỏ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240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Nhạy cảm với nhiễu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Dễ Overfitting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Phụ thuộc mạnh vào từng điểm dữ liệu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35040" y="1371600"/>
            <a:ext cx="5120640" cy="2331720"/>
          </a:xfrm>
          <a:prstGeom prst="roundRect">
            <a:avLst>
              <a:gd name="adj" fmla="val 3922"/>
            </a:avLst>
          </a:prstGeom>
          <a:solidFill>
            <a:srgbClr val="F5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5727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icons/ic_plus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1673352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1600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quá lớn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263640" y="2240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Dễ bỏ qua đặc điểm vùng lân cận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Dễ Underfitting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Ranh giới giữa các nhóm kém chính xác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hưởng của K đến độ chính xác (ví dụ)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343400"/>
          <a:ext cx="3017520" cy="214884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</a:tblGrid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E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4206240" y="5568696"/>
            <a:ext cx="530352" cy="69494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1"/>
          <p:cNvSpPr/>
          <p:nvPr/>
        </p:nvSpPr>
        <p:spPr>
          <a:xfrm>
            <a:off x="4114800" y="527608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114800" y="630936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82896" y="5221224"/>
            <a:ext cx="530352" cy="104241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Text 14"/>
          <p:cNvSpPr/>
          <p:nvPr/>
        </p:nvSpPr>
        <p:spPr>
          <a:xfrm>
            <a:off x="4791456" y="4928616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791456" y="630936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559552" y="4960620"/>
            <a:ext cx="530352" cy="1303020"/>
          </a:xfrm>
          <a:prstGeom prst="rect">
            <a:avLst/>
          </a:prstGeom>
          <a:solidFill>
            <a:srgbClr val="1E8E3E"/>
          </a:solidFill>
          <a:ln/>
        </p:spPr>
      </p:sp>
      <p:sp>
        <p:nvSpPr>
          <p:cNvPr id="22" name="Text 17"/>
          <p:cNvSpPr/>
          <p:nvPr/>
        </p:nvSpPr>
        <p:spPr>
          <a:xfrm>
            <a:off x="5468112" y="466801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68112" y="630936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236208" y="5134356"/>
            <a:ext cx="530352" cy="112928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5" name="Text 20"/>
          <p:cNvSpPr/>
          <p:nvPr/>
        </p:nvSpPr>
        <p:spPr>
          <a:xfrm>
            <a:off x="6144768" y="484174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144768" y="630936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K=7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912864" y="5394960"/>
            <a:ext cx="530352" cy="8686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8" name="Text 23"/>
          <p:cNvSpPr/>
          <p:nvPr/>
        </p:nvSpPr>
        <p:spPr>
          <a:xfrm>
            <a:off x="6821424" y="510235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821424" y="630936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K=9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069080" y="6263640"/>
            <a:ext cx="3511296" cy="0"/>
          </a:xfrm>
          <a:prstGeom prst="line">
            <a:avLst/>
          </a:prstGeom>
          <a:noFill/>
          <a:ln w="15240">
            <a:solidFill>
              <a:srgbClr val="C7CFE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001000" y="43434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32" name="Text 27"/>
          <p:cNvSpPr/>
          <p:nvPr/>
        </p:nvSpPr>
        <p:spPr>
          <a:xfrm>
            <a:off x="8183880" y="44805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có K tốt nhất cho mọi bài toán.</a:t>
            </a:r>
            <a:endParaRPr lang="en-US" sz="1450" dirty="0"/>
          </a:p>
        </p:txBody>
      </p:sp>
      <p:sp>
        <p:nvSpPr>
          <p:cNvPr id="33" name="Text 28"/>
          <p:cNvSpPr/>
          <p:nvPr/>
        </p:nvSpPr>
        <p:spPr>
          <a:xfrm>
            <a:off x="8183880" y="53035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nhiều giá trị K và chọn giá trị cho kết quả validation tốt nhất.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Học máy cơ bản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ƯU ĐIỂM &amp; NHƯỢC ĐIỂM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03520" cy="4251960"/>
          </a:xfrm>
          <a:prstGeom prst="roundRect">
            <a:avLst>
              <a:gd name="adj" fmla="val 2151"/>
            </a:avLst>
          </a:prstGeom>
          <a:solidFill>
            <a:srgbClr val="EAF7EF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572768"/>
            <a:ext cx="548640" cy="548640"/>
          </a:xfrm>
          <a:prstGeom prst="ellipse">
            <a:avLst/>
          </a:prstGeom>
          <a:solidFill>
            <a:srgbClr val="1E8E3E"/>
          </a:solidFill>
          <a:ln/>
        </p:spPr>
      </p:sp>
      <p:pic>
        <p:nvPicPr>
          <p:cNvPr id="5" name="Image 0" descr="/home/claude/icons/ic_thumbs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682496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276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33172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Dễ hiểu và dễ triển khai
</a:t>
            </a:r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Thuật toán đơn giản
</a:t>
            </a:r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Không cần xây dựng mô hình phức tạp
</a:t>
            </a:r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Dùng được cho Classification và Regression
</a:t>
            </a:r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Phù hợp với dataset nhỏ và vừa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371600"/>
            <a:ext cx="5303520" cy="4251960"/>
          </a:xfrm>
          <a:prstGeom prst="roundRect">
            <a:avLst>
              <a:gd name="adj" fmla="val 2151"/>
            </a:avLst>
          </a:prstGeom>
          <a:solidFill>
            <a:srgbClr val="FDEDEC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1572768"/>
            <a:ext cx="548640" cy="548640"/>
          </a:xfrm>
          <a:prstGeom prst="ellipse">
            <a:avLst/>
          </a:prstGeom>
          <a:solidFill>
            <a:srgbClr val="B00020"/>
          </a:solidFill>
          <a:ln/>
        </p:spPr>
      </p:sp>
      <p:pic>
        <p:nvPicPr>
          <p:cNvPr id="10" name="Image 1" descr="/home/claude/icons/ic_thumbs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68249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6276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NHƯỢC ĐIỂM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537960" y="233172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Dự đoán chậm khi dữ liệu rất lớn
</a:t>
            </a:r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Tốn bộ nhớ
</a:t>
            </a:r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Nhạy cảm với nhiễu
</a:t>
            </a:r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Nhạy cảm với scale của dữ liệu
</a:t>
            </a:r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Kém hiệu quả khi số chiều dữ liệu quá lớn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108960" y="5806440"/>
            <a:ext cx="5943600" cy="65836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Shape 10"/>
          <p:cNvSpPr/>
          <p:nvPr/>
        </p:nvSpPr>
        <p:spPr>
          <a:xfrm>
            <a:off x="3246120" y="5870448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/home/claude/icons/ic_excla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598932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31920" y="580644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Curse of Dimensionality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Học máy cơ bản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NHỮNG LƯU Ý KHI SỬ DỤNG KNN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Feature Scaling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dựa trên khoảng cách nên các feature có thang đo lớn có thể ảnh hưởng mạnh đến kết quả.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606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Tuổi: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– 60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nhập: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100 triệu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Nên chuẩn hóa dữ liệu trước khi chạy KNN.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1148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Standardization: 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(x - μ) / 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3258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Một số ứng dụng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09360" y="1874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5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73952" y="20391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0" descr="/home/claude/icons/ic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2167128"/>
            <a:ext cx="246888" cy="2468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46520" y="26517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khách hàng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052560" y="1874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5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217152" y="20391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1" descr="/home/claude/icons/ic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168" y="2167128"/>
            <a:ext cx="246888" cy="2468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189720" y="26517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dạng hình ảnh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309360" y="32461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5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73952" y="34107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/home/claude/icons/ic_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3538728"/>
            <a:ext cx="246888" cy="2468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46520" y="40233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văn bản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052560" y="32461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5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217152" y="34107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/home/claude/icons/ic_gi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68" y="3538728"/>
            <a:ext cx="246888" cy="2468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89720" y="40233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gợi ý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309360" y="46177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5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473952" y="4782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4" descr="/home/claude/icons/ic_fingerpr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4910328"/>
            <a:ext cx="246888" cy="2468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46520" y="5394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dạng mẫu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9052560" y="46177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5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9217152" y="4782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5" descr="/home/claude/icons/ic_chartli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168" y="4910328"/>
            <a:ext cx="246888" cy="24688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89720" y="5394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giá trị tương đồng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Học máy cơ bản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1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= GẦN → CHỌN K → DỰ ĐOÁN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8008" y="16002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41A44"/>
          </a:solidFill>
          <a:ln w="12700">
            <a:solidFill>
              <a:srgbClr val="324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888" y="178308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700888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0888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0888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6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số hàng xóm cần xem xét.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2648" y="16002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41A44"/>
          </a:solidFill>
          <a:ln w="12700">
            <a:solidFill>
              <a:srgbClr val="3240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35528" y="178308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3535528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35528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khoảng cách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35528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6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dữ liệu nào gần dữ liệu mới nhất.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002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41A44"/>
          </a:solidFill>
          <a:ln w="12700">
            <a:solidFill>
              <a:srgbClr val="3240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70168" y="178308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6" name="Text 14"/>
          <p:cNvSpPr/>
          <p:nvPr/>
        </p:nvSpPr>
        <p:spPr>
          <a:xfrm>
            <a:off x="6370168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70168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K hàng xóm gần nhất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70168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6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những điểm có khoảng cách nhỏ nhất.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21928" y="16002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41A44"/>
          </a:solidFill>
          <a:ln w="12700">
            <a:solidFill>
              <a:srgbClr val="3240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04808" y="178308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1" name="Text 19"/>
          <p:cNvSpPr/>
          <p:nvPr/>
        </p:nvSpPr>
        <p:spPr>
          <a:xfrm>
            <a:off x="9204808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04808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ra dự đoán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04808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6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bỏ phiếu · Regression: tính trung bình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280160" y="3794760"/>
            <a:ext cx="9601200" cy="1234440"/>
          </a:xfrm>
          <a:prstGeom prst="roundRect">
            <a:avLst>
              <a:gd name="adj" fmla="val 7407"/>
            </a:avLst>
          </a:prstGeom>
          <a:solidFill>
            <a:srgbClr val="243284"/>
          </a:solidFill>
          <a:ln/>
        </p:spPr>
      </p:sp>
      <p:sp>
        <p:nvSpPr>
          <p:cNvPr id="25" name="Text 23"/>
          <p:cNvSpPr/>
          <p:nvPr/>
        </p:nvSpPr>
        <p:spPr>
          <a:xfrm>
            <a:off x="1600200" y="3794760"/>
            <a:ext cx="8961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“KNN không cố gắng tìm một quy luật phức tạp. Nó dựa vào những dữ liệu gần nhất để đưa ra dự đoán.”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Đặng Văn Sỹ  —  Học máy cơ bản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2026-09-13T11:26:27Z</dcterms:created>
  <dcterms:modified xsi:type="dcterms:W3CDTF">2026-09-13T11:26:27Z</dcterms:modified>
</cp:coreProperties>
</file>